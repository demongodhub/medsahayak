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C3048"/>
                </a:solidFill>
                <a:latin typeface="Arial"/>
              </a:rP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777240"/>
            <a:ext cx="4023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91919"/>
                </a:solidFill>
                <a:latin typeface="Arial"/>
              </a:rPr>
              <a:t>TITLE PAGE</a:t>
            </a:r>
          </a:p>
        </p:txBody>
      </p:sp>
      <p:sp>
        <p:nvSpPr>
          <p:cNvPr id="4" name="Oval 3"/>
          <p:cNvSpPr/>
          <p:nvPr/>
        </p:nvSpPr>
        <p:spPr>
          <a:xfrm>
            <a:off x="10744200" y="155448"/>
            <a:ext cx="246888" cy="246888"/>
          </a:xfrm>
          <a:prstGeom prst="ellipse">
            <a:avLst/>
          </a:prstGeom>
          <a:solidFill>
            <a:srgbClr val="F18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81360" y="173736"/>
            <a:ext cx="228600" cy="228600"/>
          </a:xfrm>
          <a:prstGeom prst="ellipse">
            <a:avLst/>
          </a:prstGeom>
          <a:solidFill>
            <a:srgbClr val="4A9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137160"/>
            <a:ext cx="731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20" b="1">
                <a:solidFill>
                  <a:srgbClr val="1C3048"/>
                </a:solidFill>
                <a:latin typeface="Arial"/>
              </a:rPr>
              <a:t>SMART INDIA
HACKATHON
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11201400" cy="22860"/>
          </a:xfrm>
          <a:prstGeom prst="rect">
            <a:avLst/>
          </a:prstGeom>
          <a:solidFill>
            <a:srgbClr val="00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67208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400" b="1">
                <a:solidFill>
                  <a:srgbClr val="0067BE"/>
                </a:solidFill>
                <a:latin typeface="Arial"/>
              </a:rPr>
              <a:t>• </a:t>
            </a:r>
            <a:r>
              <a:rPr sz="1400" b="1">
                <a:solidFill>
                  <a:srgbClr val="191919"/>
                </a:solidFill>
                <a:latin typeface="Arial"/>
              </a:rPr>
              <a:t>Problem Statement ID - </a:t>
            </a:r>
            <a:r>
              <a:rPr sz="1400">
                <a:solidFill>
                  <a:srgbClr val="191919"/>
                </a:solidFill>
                <a:latin typeface="Arial"/>
              </a:rPr>
              <a:t>26113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400" b="1">
                <a:solidFill>
                  <a:srgbClr val="0067BE"/>
                </a:solidFill>
                <a:latin typeface="Arial"/>
              </a:rPr>
              <a:t>• </a:t>
            </a:r>
            <a:r>
              <a:rPr sz="1400" b="1">
                <a:solidFill>
                  <a:srgbClr val="191919"/>
                </a:solidFill>
                <a:latin typeface="Arial"/>
              </a:rPr>
              <a:t>Problem Statement Title - </a:t>
            </a:r>
            <a:r>
              <a:rPr sz="1400">
                <a:solidFill>
                  <a:srgbClr val="191919"/>
                </a:solidFill>
                <a:latin typeface="Arial"/>
              </a:rPr>
              <a:t>Accessibility and quality of public healthcare services particularly in rural and underserved areas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400" b="1">
                <a:solidFill>
                  <a:srgbClr val="0067BE"/>
                </a:solidFill>
                <a:latin typeface="Arial"/>
              </a:rPr>
              <a:t>• </a:t>
            </a:r>
            <a:r>
              <a:rPr sz="1400" b="1">
                <a:solidFill>
                  <a:srgbClr val="191919"/>
                </a:solidFill>
                <a:latin typeface="Arial"/>
              </a:rPr>
              <a:t>Theme - </a:t>
            </a:r>
            <a:r>
              <a:rPr sz="1400">
                <a:solidFill>
                  <a:srgbClr val="191919"/>
                </a:solidFill>
                <a:latin typeface="Arial"/>
              </a:rPr>
              <a:t>MedTech / BidTech / Health Tech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400" b="1">
                <a:solidFill>
                  <a:srgbClr val="0067BE"/>
                </a:solidFill>
                <a:latin typeface="Arial"/>
              </a:rPr>
              <a:t>• </a:t>
            </a:r>
            <a:r>
              <a:rPr sz="1400" b="1">
                <a:solidFill>
                  <a:srgbClr val="191919"/>
                </a:solidFill>
                <a:latin typeface="Arial"/>
              </a:rPr>
              <a:t>PS Category - </a:t>
            </a:r>
            <a:r>
              <a:rPr sz="1400">
                <a:solidFill>
                  <a:srgbClr val="191919"/>
                </a:solidFill>
                <a:latin typeface="Arial"/>
              </a:rPr>
              <a:t>Software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400" b="1">
                <a:solidFill>
                  <a:srgbClr val="0067BE"/>
                </a:solidFill>
                <a:latin typeface="Arial"/>
              </a:rPr>
              <a:t>• </a:t>
            </a:r>
            <a:r>
              <a:rPr sz="1400" b="1">
                <a:solidFill>
                  <a:srgbClr val="191919"/>
                </a:solidFill>
                <a:latin typeface="Arial"/>
              </a:rPr>
              <a:t>Team ID - </a:t>
            </a:r>
            <a:r>
              <a:rPr sz="1400">
                <a:solidFill>
                  <a:srgbClr val="191919"/>
                </a:solidFill>
                <a:latin typeface="Arial"/>
              </a:rPr>
              <a:t>[Blank / To be filled by team]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400" b="1">
                <a:solidFill>
                  <a:srgbClr val="0067BE"/>
                </a:solidFill>
                <a:latin typeface="Arial"/>
              </a:rPr>
              <a:t>• </a:t>
            </a:r>
            <a:r>
              <a:rPr sz="1400" b="1">
                <a:solidFill>
                  <a:srgbClr val="191919"/>
                </a:solidFill>
                <a:latin typeface="Arial"/>
              </a:rPr>
              <a:t>Team Name (Registered on portal) - </a:t>
            </a:r>
            <a:r>
              <a:rPr sz="1400">
                <a:solidFill>
                  <a:srgbClr val="191919"/>
                </a:solidFill>
                <a:latin typeface="Arial"/>
              </a:rPr>
              <a:t>The Persimmons</a:t>
            </a:r>
          </a:p>
        </p:txBody>
      </p:sp>
      <p:sp>
        <p:nvSpPr>
          <p:cNvPr id="9" name="Oval 8"/>
          <p:cNvSpPr/>
          <p:nvPr/>
        </p:nvSpPr>
        <p:spPr>
          <a:xfrm>
            <a:off x="8321040" y="1828800"/>
            <a:ext cx="960120" cy="960120"/>
          </a:xfrm>
          <a:prstGeom prst="ellipse">
            <a:avLst/>
          </a:prstGeom>
          <a:solidFill>
            <a:srgbClr val="F18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823960" y="1901952"/>
            <a:ext cx="914400" cy="868680"/>
          </a:xfrm>
          <a:prstGeom prst="ellipse">
            <a:avLst/>
          </a:prstGeom>
          <a:solidFill>
            <a:srgbClr val="4A9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87968" y="2112264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3154680"/>
            <a:ext cx="2743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1C3048"/>
                </a:solidFill>
                <a:latin typeface="Arial"/>
              </a:rPr>
              <a:t>MED
SAHAYAK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977639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067BE"/>
                </a:solidFill>
                <a:latin typeface="Arial"/>
              </a:rPr>
              <a:t>Understand • Explain • Assist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4434840"/>
            <a:ext cx="32918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91919"/>
                </a:solidFill>
                <a:latin typeface="Arial"/>
              </a:rPr>
              <a:t>AI-assisted health literacy for rural
and underserved communities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0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6574536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56848" y="6565392"/>
            <a:ext cx="274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0" y="320040"/>
            <a:ext cx="6400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100" b="1">
                <a:solidFill>
                  <a:srgbClr val="191919"/>
                </a:solidFill>
                <a:latin typeface="Arial"/>
              </a:rPr>
              <a:t>IDEA TITLE</a:t>
            </a:r>
          </a:p>
        </p:txBody>
      </p:sp>
      <p:sp>
        <p:nvSpPr>
          <p:cNvPr id="3" name="Oval 2"/>
          <p:cNvSpPr/>
          <p:nvPr/>
        </p:nvSpPr>
        <p:spPr>
          <a:xfrm>
            <a:off x="10744200" y="155448"/>
            <a:ext cx="246888" cy="246888"/>
          </a:xfrm>
          <a:prstGeom prst="ellipse">
            <a:avLst/>
          </a:prstGeom>
          <a:solidFill>
            <a:srgbClr val="F18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73736"/>
            <a:ext cx="228600" cy="228600"/>
          </a:xfrm>
          <a:prstGeom prst="ellipse">
            <a:avLst/>
          </a:prstGeom>
          <a:solidFill>
            <a:srgbClr val="4A9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137160"/>
            <a:ext cx="731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20" b="1">
                <a:solidFill>
                  <a:srgbClr val="1C3048"/>
                </a:solidFill>
                <a:latin typeface="Arial"/>
              </a:rPr>
              <a:t>SMART INDIA
HACKATHON
2026</a:t>
            </a:r>
          </a:p>
        </p:txBody>
      </p:sp>
      <p:sp>
        <p:nvSpPr>
          <p:cNvPr id="6" name="Oval 5"/>
          <p:cNvSpPr/>
          <p:nvPr/>
        </p:nvSpPr>
        <p:spPr>
          <a:xfrm>
            <a:off x="228600" y="164592"/>
            <a:ext cx="777240" cy="566928"/>
          </a:xfrm>
          <a:prstGeom prst="ellipse">
            <a:avLst/>
          </a:prstGeom>
          <a:solidFill>
            <a:srgbClr val="FFFFFF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210312"/>
            <a:ext cx="685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0">
                <a:solidFill>
                  <a:srgbClr val="1C3048"/>
                </a:solidFill>
                <a:latin typeface="Arial"/>
              </a:rPr>
              <a:t>Your
Team
The Persimmons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713232"/>
            <a:ext cx="11201400" cy="22860"/>
          </a:xfrm>
          <a:prstGeom prst="rect">
            <a:avLst/>
          </a:prstGeom>
          <a:solidFill>
            <a:srgbClr val="00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0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6574536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56848" y="6565392"/>
            <a:ext cx="274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960120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91919"/>
                </a:solidFill>
                <a:latin typeface="Arial"/>
              </a:rPr>
              <a:t>Project MedSahayak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444752"/>
            <a:ext cx="9692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E6E6E"/>
                </a:solidFill>
                <a:latin typeface="Arial"/>
              </a:rPr>
              <a:t>Turning complex medical information into simple, understandable guidance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1901952"/>
            <a:ext cx="352044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1901952"/>
            <a:ext cx="64008" cy="4069080"/>
          </a:xfrm>
          <a:prstGeom prst="rect">
            <a:avLst/>
          </a:prstGeom>
          <a:solidFill>
            <a:srgbClr val="00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2039112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3048"/>
                </a:solidFill>
                <a:latin typeface="Arial"/>
              </a:rPr>
              <a:t>Detailed explanation of the proposed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2542032"/>
            <a:ext cx="3200400" cy="33192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1919"/>
                </a:solidFill>
                <a:latin typeface="Arial"/>
              </a:rPr>
              <a:t>A health website that turns confusing medical information into something anyone can understand, by providing plain-language explanations of medical reports, prescriptions and X-rays, and consolidating all health records. It tracks health over time with simple graphs.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4256" y="1901952"/>
            <a:ext cx="352044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34256" y="1901952"/>
            <a:ext cx="64008" cy="4069080"/>
          </a:xfrm>
          <a:prstGeom prst="rect">
            <a:avLst/>
          </a:prstGeom>
          <a:solidFill>
            <a:srgbClr val="4A9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17136" y="2039112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3048"/>
                </a:solidFill>
                <a:latin typeface="Arial"/>
              </a:rPr>
              <a:t>How it addresses the problem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7136" y="2542032"/>
            <a:ext cx="3200400" cy="33192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1919"/>
                </a:solidFill>
                <a:latin typeface="Arial"/>
              </a:rPr>
              <a:t>By explaining jargon and consolidating records, it directly improves the accessibility and quality of services for users, especially in underserved areas, who may struggle with medical terminology. AI help, voice-first UI and reminders support rural and elderly users.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10144" y="1901952"/>
            <a:ext cx="352044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10144" y="1901952"/>
            <a:ext cx="64008" cy="4069080"/>
          </a:xfrm>
          <a:prstGeom prst="rect">
            <a:avLst/>
          </a:prstGeom>
          <a:solidFill>
            <a:srgbClr val="F18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3023" y="2039112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3048"/>
                </a:solidFill>
                <a:latin typeface="Arial"/>
              </a:rPr>
              <a:t>Innovation and uniqueness of the solution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023" y="2542032"/>
            <a:ext cx="3200400" cy="33192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1919"/>
                </a:solidFill>
                <a:latin typeface="Arial"/>
              </a:rPr>
              <a:t>Unlike other tools, it is built around understanding, not just storage. Every report is accompanied by a plain-language explanation. AI support is always available to clarify queries.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0" y="320040"/>
            <a:ext cx="6400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100" b="1">
                <a:solidFill>
                  <a:srgbClr val="191919"/>
                </a:solidFill>
                <a:latin typeface="Arial"/>
              </a:rPr>
              <a:t>TECHNICAL APPROACH</a:t>
            </a:r>
          </a:p>
        </p:txBody>
      </p:sp>
      <p:sp>
        <p:nvSpPr>
          <p:cNvPr id="3" name="Oval 2"/>
          <p:cNvSpPr/>
          <p:nvPr/>
        </p:nvSpPr>
        <p:spPr>
          <a:xfrm>
            <a:off x="10744200" y="155448"/>
            <a:ext cx="246888" cy="246888"/>
          </a:xfrm>
          <a:prstGeom prst="ellipse">
            <a:avLst/>
          </a:prstGeom>
          <a:solidFill>
            <a:srgbClr val="F18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73736"/>
            <a:ext cx="228600" cy="228600"/>
          </a:xfrm>
          <a:prstGeom prst="ellipse">
            <a:avLst/>
          </a:prstGeom>
          <a:solidFill>
            <a:srgbClr val="4A9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137160"/>
            <a:ext cx="731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20" b="1">
                <a:solidFill>
                  <a:srgbClr val="1C3048"/>
                </a:solidFill>
                <a:latin typeface="Arial"/>
              </a:rPr>
              <a:t>SMART INDIA
HACKATHON
2026</a:t>
            </a:r>
          </a:p>
        </p:txBody>
      </p:sp>
      <p:sp>
        <p:nvSpPr>
          <p:cNvPr id="6" name="Oval 5"/>
          <p:cNvSpPr/>
          <p:nvPr/>
        </p:nvSpPr>
        <p:spPr>
          <a:xfrm>
            <a:off x="228600" y="164592"/>
            <a:ext cx="777240" cy="566928"/>
          </a:xfrm>
          <a:prstGeom prst="ellipse">
            <a:avLst/>
          </a:prstGeom>
          <a:solidFill>
            <a:srgbClr val="FFFFFF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210312"/>
            <a:ext cx="685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0">
                <a:solidFill>
                  <a:srgbClr val="1C3048"/>
                </a:solidFill>
                <a:latin typeface="Arial"/>
              </a:rPr>
              <a:t>Your
Team
The Persimmons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713232"/>
            <a:ext cx="11201400" cy="22860"/>
          </a:xfrm>
          <a:prstGeom prst="rect">
            <a:avLst/>
          </a:prstGeom>
          <a:solidFill>
            <a:srgbClr val="00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0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6574536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56848" y="6565392"/>
            <a:ext cx="274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9326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C3048"/>
                </a:solidFill>
                <a:latin typeface="Arial"/>
              </a:rPr>
              <a:t>Methodology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417320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3048"/>
                </a:solidFill>
                <a:latin typeface="Arial"/>
              </a:rPr>
              <a:t>Capture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1399032"/>
            <a:ext cx="43434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91919"/>
                </a:solidFill>
                <a:latin typeface="Arial"/>
              </a:rPr>
              <a:t>Patient photographs or scans a medical report, prescription or X-ray using a smartphone.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49631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3048"/>
                </a:solidFill>
                <a:latin typeface="Arial"/>
              </a:rPr>
              <a:t>Simplify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2478024"/>
            <a:ext cx="43434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91919"/>
                </a:solidFill>
                <a:latin typeface="Arial"/>
              </a:rPr>
              <a:t>OCR + NLP turn medical jargon into plain-language explanations — what it means and why it matters.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575304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3048"/>
                </a:solidFill>
                <a:latin typeface="Arial"/>
              </a:rPr>
              <a:t>Screen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3557016"/>
            <a:ext cx="43434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91919"/>
                </a:solidFill>
                <a:latin typeface="Arial"/>
              </a:rPr>
              <a:t>An image-classification model reviews X-rays for disease-specific screening support.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654296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3048"/>
                </a:solidFill>
                <a:latin typeface="Arial"/>
              </a:rPr>
              <a:t>Communicate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4636008"/>
            <a:ext cx="43434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91919"/>
                </a:solidFill>
                <a:latin typeface="Arial"/>
              </a:rPr>
              <a:t>The summary is read aloud in the patient’s regional language for low-literacy and elderly users.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1024128"/>
            <a:ext cx="4709160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20840" y="1024128"/>
            <a:ext cx="64008" cy="5166360"/>
          </a:xfrm>
          <a:prstGeom prst="rect">
            <a:avLst/>
          </a:prstGeom>
          <a:solidFill>
            <a:srgbClr val="00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161288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C3048"/>
                </a:solidFill>
                <a:latin typeface="Arial"/>
              </a:rPr>
              <a:t>Technologies to be used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1664208"/>
            <a:ext cx="4389120" cy="4416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191919"/>
                </a:solidFill>
                <a:latin typeface="Arial"/>
              </a:rPr>
              <a:t>Frontend: HTML, CSS, JS, PWA (works on low-end web / Android devices).
Backend: Python (Flask/FastAPI) for OCR and ML requests.
OCR: Tesseract OCR (Python) or Google Cloud Vision API.
NLP / LLM: Bhashini multilingual AI platform.
X-ray screening: Python + TensorFlow/PyTorch, CNN with transfer learning.
Offline-first: cache / sync with online APIs.
Database: SQLite for the prototype.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0" y="320040"/>
            <a:ext cx="6400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100" b="1">
                <a:solidFill>
                  <a:srgbClr val="191919"/>
                </a:solidFill>
                <a:latin typeface="Arial"/>
              </a:rPr>
              <a:t>FEASIBILITY AND VIABILITY</a:t>
            </a:r>
          </a:p>
        </p:txBody>
      </p:sp>
      <p:sp>
        <p:nvSpPr>
          <p:cNvPr id="3" name="Oval 2"/>
          <p:cNvSpPr/>
          <p:nvPr/>
        </p:nvSpPr>
        <p:spPr>
          <a:xfrm>
            <a:off x="10744200" y="155448"/>
            <a:ext cx="246888" cy="246888"/>
          </a:xfrm>
          <a:prstGeom prst="ellipse">
            <a:avLst/>
          </a:prstGeom>
          <a:solidFill>
            <a:srgbClr val="F18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73736"/>
            <a:ext cx="228600" cy="228600"/>
          </a:xfrm>
          <a:prstGeom prst="ellipse">
            <a:avLst/>
          </a:prstGeom>
          <a:solidFill>
            <a:srgbClr val="4A9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137160"/>
            <a:ext cx="731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20" b="1">
                <a:solidFill>
                  <a:srgbClr val="1C3048"/>
                </a:solidFill>
                <a:latin typeface="Arial"/>
              </a:rPr>
              <a:t>SMART INDIA
HACKATHON
2026</a:t>
            </a:r>
          </a:p>
        </p:txBody>
      </p:sp>
      <p:sp>
        <p:nvSpPr>
          <p:cNvPr id="6" name="Oval 5"/>
          <p:cNvSpPr/>
          <p:nvPr/>
        </p:nvSpPr>
        <p:spPr>
          <a:xfrm>
            <a:off x="228600" y="164592"/>
            <a:ext cx="777240" cy="566928"/>
          </a:xfrm>
          <a:prstGeom prst="ellipse">
            <a:avLst/>
          </a:prstGeom>
          <a:solidFill>
            <a:srgbClr val="FFFFFF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210312"/>
            <a:ext cx="685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0">
                <a:solidFill>
                  <a:srgbClr val="1C3048"/>
                </a:solidFill>
                <a:latin typeface="Arial"/>
              </a:rPr>
              <a:t>Your
Team
The Persimmons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713232"/>
            <a:ext cx="11201400" cy="22860"/>
          </a:xfrm>
          <a:prstGeom prst="rect">
            <a:avLst/>
          </a:prstGeom>
          <a:solidFill>
            <a:srgbClr val="00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0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6574536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56848" y="6565392"/>
            <a:ext cx="274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91440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C3048"/>
                </a:solidFill>
                <a:latin typeface="Arial"/>
              </a:rPr>
              <a:t>Analysis of the feasibility of the idea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353312"/>
            <a:ext cx="361188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353312"/>
            <a:ext cx="64008" cy="4892040"/>
          </a:xfrm>
          <a:prstGeom prst="rect">
            <a:avLst/>
          </a:prstGeom>
          <a:solidFill>
            <a:srgbClr val="00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149047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C3048"/>
                </a:solidFill>
                <a:latin typeface="Arial"/>
              </a:rPr>
              <a:t>Feasibility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1993391"/>
            <a:ext cx="3291840" cy="4142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91919"/>
                </a:solidFill>
                <a:latin typeface="Arial"/>
              </a:rPr>
              <a:t>Technical: patient photos, reports, medicine terms and X-rays are practical inputs.
Operational: OCR + NLP explanation supports planning and diagnosis workflows.
Financial: Tesseract is open-source.
Legal: X-ray classification should be used as decision support, not final diagnosis.
Communication: read-aloud summaries improve accessibility.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353312"/>
            <a:ext cx="361188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353312"/>
            <a:ext cx="64008" cy="4892040"/>
          </a:xfrm>
          <a:prstGeom prst="rect">
            <a:avLst/>
          </a:prstGeom>
          <a:solidFill>
            <a:srgbClr val="F18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149047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C3048"/>
                </a:solidFill>
                <a:latin typeface="Arial"/>
              </a:rPr>
              <a:t>Potential challenges and risks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1993391"/>
            <a:ext cx="3291840" cy="4142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91919"/>
                </a:solidFill>
                <a:latin typeface="Arial"/>
              </a:rPr>
              <a:t>• Messy handwriting
• Wrong medication interpretation
• X-ray model false positives / negatives
• Limited regional-language coverage
• Data quality and model accuracy risks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1353312"/>
            <a:ext cx="361188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92440" y="1353312"/>
            <a:ext cx="64008" cy="4892040"/>
          </a:xfrm>
          <a:prstGeom prst="rect">
            <a:avLst/>
          </a:prstGeom>
          <a:solidFill>
            <a:srgbClr val="4A9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19" y="149047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C3048"/>
                </a:solidFill>
                <a:latin typeface="Arial"/>
              </a:rPr>
              <a:t>Strategies for overcoming challenges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19" y="1993391"/>
            <a:ext cx="3291840" cy="4142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91919"/>
                </a:solidFill>
                <a:latin typeface="Arial"/>
              </a:rPr>
              <a:t>• MVP focuses on printed reports
• Show original text next to simplified text
• Position as a “flag” tool, not a final diagnosis
• Launch with core languages
• Voice-first UI
• On-device processing
• Offline-first design
• Lightweight PWA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0" y="320040"/>
            <a:ext cx="6400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100" b="1">
                <a:solidFill>
                  <a:srgbClr val="191919"/>
                </a:solidFill>
                <a:latin typeface="Arial"/>
              </a:rPr>
              <a:t>IMPACT AND BENEFITS</a:t>
            </a:r>
          </a:p>
        </p:txBody>
      </p:sp>
      <p:sp>
        <p:nvSpPr>
          <p:cNvPr id="3" name="Oval 2"/>
          <p:cNvSpPr/>
          <p:nvPr/>
        </p:nvSpPr>
        <p:spPr>
          <a:xfrm>
            <a:off x="10744200" y="155448"/>
            <a:ext cx="246888" cy="246888"/>
          </a:xfrm>
          <a:prstGeom prst="ellipse">
            <a:avLst/>
          </a:prstGeom>
          <a:solidFill>
            <a:srgbClr val="F18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73736"/>
            <a:ext cx="228600" cy="228600"/>
          </a:xfrm>
          <a:prstGeom prst="ellipse">
            <a:avLst/>
          </a:prstGeom>
          <a:solidFill>
            <a:srgbClr val="4A9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137160"/>
            <a:ext cx="731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20" b="1">
                <a:solidFill>
                  <a:srgbClr val="1C3048"/>
                </a:solidFill>
                <a:latin typeface="Arial"/>
              </a:rPr>
              <a:t>SMART INDIA
HACKATHON
2026</a:t>
            </a:r>
          </a:p>
        </p:txBody>
      </p:sp>
      <p:sp>
        <p:nvSpPr>
          <p:cNvPr id="6" name="Oval 5"/>
          <p:cNvSpPr/>
          <p:nvPr/>
        </p:nvSpPr>
        <p:spPr>
          <a:xfrm>
            <a:off x="228600" y="164592"/>
            <a:ext cx="777240" cy="566928"/>
          </a:xfrm>
          <a:prstGeom prst="ellipse">
            <a:avLst/>
          </a:prstGeom>
          <a:solidFill>
            <a:srgbClr val="FFFFFF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210312"/>
            <a:ext cx="685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0">
                <a:solidFill>
                  <a:srgbClr val="1C3048"/>
                </a:solidFill>
                <a:latin typeface="Arial"/>
              </a:rPr>
              <a:t>Your
Team
The Persimmons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713232"/>
            <a:ext cx="11201400" cy="22860"/>
          </a:xfrm>
          <a:prstGeom prst="rect">
            <a:avLst/>
          </a:prstGeom>
          <a:solidFill>
            <a:srgbClr val="00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0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6574536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56848" y="6565392"/>
            <a:ext cx="274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91440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91919"/>
                </a:solidFill>
                <a:latin typeface="Arial"/>
              </a:rPr>
              <a:t>Potential Impact and Benefits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444752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1444752"/>
            <a:ext cx="64008" cy="4709160"/>
          </a:xfrm>
          <a:prstGeom prst="rect">
            <a:avLst/>
          </a:prstGeom>
          <a:solidFill>
            <a:srgbClr val="00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1581912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C3048"/>
                </a:solidFill>
                <a:latin typeface="Arial"/>
              </a:rPr>
              <a:t>Potential impact on the target audience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2084832"/>
            <a:ext cx="5166360" cy="3959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1919"/>
                </a:solidFill>
                <a:latin typeface="Arial"/>
              </a:rPr>
              <a:t>Patients understand their own health (reports, medicines)
• Fewer missed check-ups and medication reminders
• Reduced anxiety and fear around visits
• Better outcomes for chronic patients (sugar / BP tracking)
• Greater independence for elderly and low-literacy users
• Safer medicine use
• Builds trust in digital tools through a transparent system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444752"/>
            <a:ext cx="516636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1444752"/>
            <a:ext cx="64008" cy="4709160"/>
          </a:xfrm>
          <a:prstGeom prst="rect">
            <a:avLst/>
          </a:prstGeom>
          <a:solidFill>
            <a:srgbClr val="4A9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158191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C3048"/>
                </a:solidFill>
                <a:latin typeface="Arial"/>
              </a:rPr>
              <a:t>Benefits of the 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084832"/>
            <a:ext cx="4846320" cy="3959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1919"/>
                </a:solidFill>
                <a:latin typeface="Arial"/>
              </a:rPr>
              <a:t>Economically: reduces repeat doctor visits where appropriate.
Socially: improves health literacy.
Government / Policy: supports public health goals.
Accessibility: regional-language, voice-first and low-end-device friendly.
Continuity: keeps records and health trends understandable over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0" y="320040"/>
            <a:ext cx="6400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100" b="1">
                <a:solidFill>
                  <a:srgbClr val="191919"/>
                </a:solidFill>
                <a:latin typeface="Arial"/>
              </a:rPr>
              <a:t>RESEARCH AND REFERENCES</a:t>
            </a:r>
          </a:p>
        </p:txBody>
      </p:sp>
      <p:sp>
        <p:nvSpPr>
          <p:cNvPr id="3" name="Oval 2"/>
          <p:cNvSpPr/>
          <p:nvPr/>
        </p:nvSpPr>
        <p:spPr>
          <a:xfrm>
            <a:off x="10744200" y="155448"/>
            <a:ext cx="246888" cy="246888"/>
          </a:xfrm>
          <a:prstGeom prst="ellipse">
            <a:avLst/>
          </a:prstGeom>
          <a:solidFill>
            <a:srgbClr val="F18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73736"/>
            <a:ext cx="228600" cy="228600"/>
          </a:xfrm>
          <a:prstGeom prst="ellipse">
            <a:avLst/>
          </a:prstGeom>
          <a:solidFill>
            <a:srgbClr val="4A9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137160"/>
            <a:ext cx="731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20" b="1">
                <a:solidFill>
                  <a:srgbClr val="1C3048"/>
                </a:solidFill>
                <a:latin typeface="Arial"/>
              </a:rPr>
              <a:t>SMART INDIA
HACKATHON
2026</a:t>
            </a:r>
          </a:p>
        </p:txBody>
      </p:sp>
      <p:sp>
        <p:nvSpPr>
          <p:cNvPr id="6" name="Oval 5"/>
          <p:cNvSpPr/>
          <p:nvPr/>
        </p:nvSpPr>
        <p:spPr>
          <a:xfrm>
            <a:off x="228600" y="164592"/>
            <a:ext cx="777240" cy="566928"/>
          </a:xfrm>
          <a:prstGeom prst="ellipse">
            <a:avLst/>
          </a:prstGeom>
          <a:solidFill>
            <a:srgbClr val="FFFFFF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210312"/>
            <a:ext cx="685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0">
                <a:solidFill>
                  <a:srgbClr val="1C3048"/>
                </a:solidFill>
                <a:latin typeface="Arial"/>
              </a:rPr>
              <a:t>Your
Team
The Persimmons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713232"/>
            <a:ext cx="11201400" cy="22860"/>
          </a:xfrm>
          <a:prstGeom prst="rect">
            <a:avLst/>
          </a:prstGeom>
          <a:solidFill>
            <a:srgbClr val="00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0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6574536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56848" y="6565392"/>
            <a:ext cx="274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914400"/>
            <a:ext cx="6400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91919"/>
                </a:solidFill>
                <a:latin typeface="Arial"/>
              </a:rPr>
              <a:t>Details / links of the reference and research work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417320"/>
            <a:ext cx="64008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1417320"/>
            <a:ext cx="64008" cy="4709160"/>
          </a:xfrm>
          <a:prstGeom prst="rect">
            <a:avLst/>
          </a:prstGeom>
          <a:solidFill>
            <a:srgbClr val="00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1554480"/>
            <a:ext cx="6080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C3048"/>
                </a:solidFill>
                <a:latin typeface="Arial"/>
              </a:rPr>
              <a:t>Research &amp; References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057400"/>
            <a:ext cx="6080760" cy="3959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1919"/>
                </a:solidFill>
                <a:latin typeface="Arial"/>
              </a:rPr>
              <a:t>• SIH 2026 Problem Statement Portal — sih.gov.in/vi2626PS (PS26133)
• Bhashini — Government of India’s multilingual AI initiative — bhashini.gov.in
• NIH Chest X-ray Dataset — kaggle.com/datasets/nih-chest-xrays/data
• Tesseract OCR — github.com/tesseract-ocr/tesseract
• Research focus: OCR, multilingual NLP, X-ray screening, PWA and offline-first health applications.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417320"/>
            <a:ext cx="420624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1417320"/>
            <a:ext cx="64008" cy="4709160"/>
          </a:xfrm>
          <a:prstGeom prst="rect">
            <a:avLst/>
          </a:prstGeom>
          <a:solidFill>
            <a:srgbClr val="F18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79" y="1554480"/>
            <a:ext cx="3886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C3048"/>
                </a:solidFill>
                <a:latin typeface="Arial"/>
              </a:rPr>
              <a:t>Quick Note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2057400"/>
            <a:ext cx="3886200" cy="3959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1919"/>
                </a:solidFill>
                <a:latin typeface="Arial"/>
              </a:rPr>
              <a:t>Bhashini → powers multilingual explanation / translation.
NIH Chest X-ray Dataset → training / reference data for X-ray tagging.
Tesseract OCR → reads printed / typed reports.
SIH portal link → identifies the problem statement being addressed.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